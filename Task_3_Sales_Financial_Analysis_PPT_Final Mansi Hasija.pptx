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3200"/>
              <a:buNone/>
              <a:defRPr cap="none">
                <a:solidFill>
                  <a:srgbClr val="8C8C8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2800"/>
              <a:buNone/>
              <a:defRPr cap="none">
                <a:solidFill>
                  <a:srgbClr val="8C8C8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2400"/>
              <a:buNone/>
              <a:defRPr cap="none">
                <a:solidFill>
                  <a:srgbClr val="8C8C8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2000"/>
              <a:buNone/>
              <a:defRPr cap="none">
                <a:solidFill>
                  <a:srgbClr val="8C8C8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2000"/>
              <a:buNone/>
              <a:defRPr cap="none">
                <a:solidFill>
                  <a:srgbClr val="8C8C8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2000"/>
              <a:buNone/>
              <a:defRPr cap="none">
                <a:solidFill>
                  <a:srgbClr val="8C8C8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2000"/>
              <a:buNone/>
              <a:defRPr cap="none">
                <a:solidFill>
                  <a:srgbClr val="8C8C8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2000"/>
              <a:buNone/>
              <a:defRPr cap="none">
                <a:solidFill>
                  <a:srgbClr val="8C8C8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2000"/>
              <a:buNone/>
              <a:defRPr cap="none">
                <a:solidFill>
                  <a:srgbClr val="8C8C8C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630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630" y="2907030"/>
            <a:ext cx="7772400" cy="14998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2000"/>
              <a:buNone/>
              <a:defRPr sz="2000" cap="none">
                <a:solidFill>
                  <a:srgbClr val="8C8C8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 sz="1800" cap="none">
                <a:solidFill>
                  <a:srgbClr val="8C8C8C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600"/>
              <a:buNone/>
              <a:defRPr sz="1600" cap="none">
                <a:solidFill>
                  <a:srgbClr val="8C8C8C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400"/>
              <a:buNone/>
              <a:defRPr sz="1400" cap="none">
                <a:solidFill>
                  <a:srgbClr val="8C8C8C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400"/>
              <a:buNone/>
              <a:defRPr sz="1400" cap="none">
                <a:solidFill>
                  <a:srgbClr val="8C8C8C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400"/>
              <a:buNone/>
              <a:defRPr sz="1400" cap="none">
                <a:solidFill>
                  <a:srgbClr val="8C8C8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400"/>
              <a:buNone/>
              <a:defRPr sz="1400" cap="none">
                <a:solidFill>
                  <a:srgbClr val="8C8C8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400"/>
              <a:buNone/>
              <a:defRPr sz="1400" cap="none">
                <a:solidFill>
                  <a:srgbClr val="8C8C8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400"/>
              <a:buNone/>
              <a:defRPr sz="1400" cap="none">
                <a:solidFill>
                  <a:srgbClr val="8C8C8C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cap="none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 cap="none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cap="none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 cap="none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 cap="none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cap="none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cap="none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cap="none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cap="none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cap="none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 cap="none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cap="none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 cap="none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 cap="none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cap="none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cap="none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cap="none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cap="none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430"/>
            <a:ext cx="4040505" cy="6394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505" cy="3951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cap="none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cap="none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cap="none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 cap="none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 cap="none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cap="none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cap="none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cap="none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cap="none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430"/>
            <a:ext cx="4041775" cy="6394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 cap="none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cap="none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cap="none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cap="none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 cap="none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 cap="none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cap="none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cap="none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cap="none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cap="none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63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 cap="none"/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 cap="none"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cap="none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cap="none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cap="none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cap="none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cap="none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cap="none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cap="none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630" cy="469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cap="none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cap="none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605" y="4800600"/>
            <a:ext cx="5486400" cy="567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605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605" y="5367655"/>
            <a:ext cx="5486400" cy="80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cap="none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cap="none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cap="none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860" y="-251460"/>
            <a:ext cx="452628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2018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817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255905" cy="6858000"/>
          </a:xfrm>
          <a:prstGeom prst="rect">
            <a:avLst/>
          </a:prstGeom>
          <a:solidFill>
            <a:srgbClr val="DC5B5B"/>
          </a:solidFill>
          <a:ln>
            <a:noFill/>
          </a:ln>
          <a:effectLst>
            <a:outerShdw blurRad="40005" algn="tr" dir="5400000" dist="22860">
              <a:schemeClr val="dk1">
                <a:alpha val="3490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22960" y="1417320"/>
            <a:ext cx="10561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Sales Financial Analysis Dashboard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097280" y="274320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Interactive Tableau Dashboard Project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1828800" y="342900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Task 3: Dashboard Design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828800" y="4069080"/>
            <a:ext cx="8503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Dataset: Sales_Financial_Dataset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Tool: Tableau Public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4356100" y="4690745"/>
            <a:ext cx="2625090" cy="88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Submitted by: Mansi  Hasija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4697095" y="5669280"/>
            <a:ext cx="1859915" cy="79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Date:15  August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" algn="tr" dir="5400000" dist="22860">
              <a:schemeClr val="dk1">
                <a:alpha val="3490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Key KPIs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21665" y="868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Dashboard 1 – Sales Performance Dashboard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40080" y="1417320"/>
            <a:ext cx="2514600" cy="141732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5" algn="tr" dir="5400000" dist="22860">
              <a:schemeClr val="dk1">
                <a:alpha val="3490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77240" y="160020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Total Sales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777240" y="20116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500"/>
              <a:buFont typeface="Calibri"/>
              <a:buNone/>
            </a:pPr>
            <a:r>
              <a:rPr b="0" i="0" lang="en-US" sz="2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52,198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3520440" y="1417320"/>
            <a:ext cx="2514600" cy="141732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5" algn="tr" dir="5400000" dist="22860">
              <a:schemeClr val="dk1">
                <a:alpha val="3490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657600" y="160020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Total Profit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3657600" y="20116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500"/>
              <a:buFont typeface="Calibri"/>
              <a:buNone/>
            </a:pPr>
            <a:r>
              <a:rPr b="0" i="0" lang="en-US" sz="2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13,497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400800" y="1417320"/>
            <a:ext cx="2514600" cy="141732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5" algn="tr" dir="5400000" dist="22860">
              <a:schemeClr val="dk1">
                <a:alpha val="3490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537960" y="160020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Total Quantity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537960" y="20116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500"/>
              <a:buFont typeface="Calibri"/>
              <a:buNone/>
            </a:pPr>
            <a:r>
              <a:rPr b="0" i="0" lang="en-US" sz="2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9281160" y="1417320"/>
            <a:ext cx="2514600" cy="141732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5" algn="tr" dir="5400000" dist="22860">
              <a:schemeClr val="dk1">
                <a:alpha val="3490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9418320" y="160020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Sales Growth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9418320" y="20116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500"/>
              <a:buFont typeface="Calibri"/>
              <a:buNone/>
            </a:pPr>
            <a:r>
              <a:rPr b="0" i="0" lang="en-US" sz="2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-38.4%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868680" y="3337560"/>
            <a:ext cx="10424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KPIs shown are for the selected Year-Month: 2025-03.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Sales, profit and quantity provide a quick view of period performance.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Sales Growth indicates the month-over-month performance change.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" algn="tr" dir="5400000" dist="22860">
              <a:schemeClr val="dk1">
                <a:alpha val="3490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Dashboard 1 – Observations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21665" y="868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Sales Performance Dashboard</a:t>
            </a:r>
            <a:endParaRPr/>
          </a:p>
        </p:txBody>
      </p:sp>
      <p:pic>
        <p:nvPicPr>
          <p:cNvPr descr="6ae94a25-9a5a-482c-865b-c73e75ab51bb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96035"/>
            <a:ext cx="6583680" cy="504317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>
            <a:off x="7269480" y="1417320"/>
            <a:ext cx="42519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dashboard combines KPI cards with a Sales and Profit by Month time series.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Year-Month filter provides interactive period selection.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For 2025-03, sales are 52,198, profit is 13,497 and quantity is 104.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Sales Growth is -38.4%, indicating a decline versus the previous month.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" algn="tr" dir="5400000" dist="22860">
              <a:schemeClr val="dk1">
                <a:alpha val="3490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Dashboard 2 – Observations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621665" y="868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Sales Analysis Dashboard</a:t>
            </a:r>
            <a:endParaRPr/>
          </a:p>
        </p:txBody>
      </p:sp>
      <p:pic>
        <p:nvPicPr>
          <p:cNvPr descr="214d5196-399c-4946-86bd-e8aa2f889dd0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830" y="1234440"/>
            <a:ext cx="6774180" cy="5166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7498080" y="1417320"/>
            <a:ext cx="40690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Sales fluctuate substantially across the time series.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State-level sales differ, with New York among the stronger contributors.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three product categories contribute at broadly similar levels.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Debit Card is the strongest payment mode in the displayed analysis.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" algn="tr" dir="5400000" dist="22860">
              <a:schemeClr val="dk1">
                <a:alpha val="3490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Key Business Insights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Monitor month-to-month sales fluctuations to identify periods of strong and weak performance.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Use state-level comparisons to identify stronger markets and locations requiring attention.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Category-level sales are relatively balanced, so performance should be monitored across all major categories.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Payment-mode analysis can help understand transaction preferences and support payment strategy decisions.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Interactive filtering allows stakeholders to investigate performance for specific periods.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5" algn="tr" dir="5400000" dist="22860">
              <a:schemeClr val="dk1">
                <a:alpha val="3490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Tableau dashboards provide an interactive view of sales and financial performance.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KPI cards summarize sales, profit, quantity and growth for quick decision-making.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Time-series, category, state and payment-mode views provide complementary perspectives on performance.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dashboards can help business stakeholders identify trends, compare performance and focus on areas requiring attention.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5B5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DC5B5B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